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DM Sans" panose="020F0502020204030204" pitchFamily="2" charset="0"/>
      <p:regular r:id="rId10"/>
      <p:bold r:id="rId11"/>
      <p:italic r:id="rId12"/>
      <p:boldItalic r:id="rId13"/>
    </p:embeddedFont>
    <p:embeddedFont>
      <p:font typeface="Merriweather" panose="020F05020202040302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165" autoAdjust="0"/>
  </p:normalViewPr>
  <p:slideViewPr>
    <p:cSldViewPr snapToGrid="0">
      <p:cViewPr varScale="1">
        <p:scale>
          <a:sx n="49" d="100"/>
          <a:sy n="49" d="100"/>
        </p:scale>
        <p:origin x="197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7187" y="2011709"/>
            <a:ext cx="90011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From Free-Text Follow-up Notes to Structured Actions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26209"/>
            <a:ext cx="85725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DM Sans"/>
                <a:ea typeface="DM Sans"/>
                <a:cs typeface="DM Sans"/>
                <a:sym typeface="DM Sans"/>
              </a:rPr>
              <a:t>Extracting clinical instructions and timeframes Models in a controlled mini-world.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3492549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62175"/>
            <a:ext cx="3492549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62175"/>
            <a:ext cx="3492549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245745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6700" y="24574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94225" y="340995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The Need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895725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Doctors write free-text instructions (e.g., "Do blood test in 2 weeks"). Systems need to know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what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action and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when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it's due for every patient.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572524" y="340995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The Value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5074" y="3895725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Structured data allows for automatic compliance checks ("Did the patient do the test?"), overdue alerts, and population health dashboards.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93299" y="24574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350824" y="340995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Current State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23374" y="3895725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Instructions remain locked in text notes. Verification requires manual chart review. Existing tools often ignore these crucial instructional nuances.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17675" y="26098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74274" y="26098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Motivating Use Case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0425" y="2137477"/>
            <a:ext cx="4347950" cy="1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42950" y="254132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0100" y="2542282"/>
            <a:ext cx="50577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Input: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synthetic clinical note containing symptoms, history, and 1–3 natural language instructions (e.g., "Come back in 4 weeks").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42950" y="349755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0100" y="3498502"/>
            <a:ext cx="5057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a fixed library of actions, predict: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42950" y="452997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0100" y="4530923"/>
            <a:ext cx="50577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Novelty: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Focus specifically on the "Action + Timeframe" extraction task using a controlled "mini-world" with perfect ground truth.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3925" y="375279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28700" y="375374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Present (True/False)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3925" y="414138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28700" y="414233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Timeframe (Days)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Task: Instruction Extraction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0425" y="2477125"/>
            <a:ext cx="4089649" cy="29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374000"/>
            <a:ext cx="4800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Synthetic Data Generation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814425" y="1517975"/>
            <a:ext cx="4572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1962438"/>
            <a:ext cx="480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Closed Instruction Library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2560025"/>
            <a:ext cx="4572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define a fixed set of actions (CBC, X-Ray, Glucose Log) to constrain the problem space.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3271843"/>
            <a:ext cx="480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Generative Process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3743743"/>
            <a:ext cx="45720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sample instructions first, then ask an LLM to "weave" them into a realistic clinical narrative. This ensures we have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perfect ground truth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labels for training and evaluation.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120441"/>
            <a:ext cx="480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Why Synthetic?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5592341"/>
            <a:ext cx="4572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 eliminates privacy concerns and removes human annotation error, allowing us to focus purely on the extraction capability of the NLP models.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5591"/>
            <a:ext cx="5286375" cy="366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15591"/>
            <a:ext cx="5286375" cy="36650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49379" y="2410866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(A) Baseline Approach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866775" y="2868066"/>
            <a:ext cx="46958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866775" y="3115716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Free-form JSON List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56145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reads the note and simply lists whatever actions it finds.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12004" y="2410866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(B) Structured Pipeline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629400" y="2868066"/>
            <a:ext cx="46958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629400" y="3115716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Per-Code Checklist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29400" y="356145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is forced to make a binary decision for every code in the library.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38225" y="428053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95375" y="428148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"List instructions found..."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38225" y="466912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95375" y="467007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Risk of hallucination or omission.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38225" y="505771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95375" y="505866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Requires post-processing to map back to the library.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800850" y="428053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858000" y="428148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"For code CHEST_XRAY: Is it present?"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800850" y="466912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858000" y="467007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Explicit decision making.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800850" y="505771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858000" y="5058667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Produces a complete, structured matrix directly.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Models &amp; Methods: Baseline vs. Pipeline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4626"/>
            <a:ext cx="5286375" cy="40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34616"/>
            <a:ext cx="5286375" cy="402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195637"/>
            <a:ext cx="46958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5132933"/>
            <a:ext cx="46958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749379" y="2229891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Synthetic Clinical Note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866775" y="2687091"/>
            <a:ext cx="46958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66775" y="2934741"/>
            <a:ext cx="4695825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057275" y="3125241"/>
            <a:ext cx="43148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"The patient presents for an outpatient visit with 3 weeks of intermittent headaches... Past medical history is notable for well-controlled hypertension... Assessment: primary headache disorder is most likely...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Plan: advise nonpharmacologic measures... </a:t>
            </a:r>
            <a:r>
              <a:rPr lang="en-US" sz="1125" b="1" i="1" u="none" strike="noStrike" cap="none">
                <a:solidFill>
                  <a:srgbClr val="854D0E"/>
                </a:solidFill>
                <a:latin typeface="DM Sans"/>
                <a:ea typeface="DM Sans"/>
                <a:cs typeface="DM Sans"/>
                <a:sym typeface="DM Sans"/>
              </a:rPr>
              <a:t>Please schedule a follow-up visit with the same physician in 4 weeks</a:t>
            </a:r>
            <a:r>
              <a:rPr lang="en-US" sz="1125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to reassess symptoms and review any test results."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866775" y="2934741"/>
            <a:ext cx="38100" cy="2209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6512004" y="2229891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Structured Output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6629400" y="2687091"/>
            <a:ext cx="46958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6629400" y="2934741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GROUND TRUTH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29400" y="3967162"/>
            <a:ext cx="4695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MODEL PREDICTIONS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629400" y="4304258"/>
            <a:ext cx="46958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Baseline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 i="0" u="none" strike="noStrike" cap="non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✔ 28 Days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629400" y="4580483"/>
            <a:ext cx="4695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629400" y="4666208"/>
            <a:ext cx="4695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Pipeline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 i="0" u="none" strike="noStrike" cap="non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✔ 28 Days</a:t>
            </a:r>
            <a:endParaRPr/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09737" y="2267991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29537" y="2267991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24650" y="5332958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 Extraction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31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1718518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1. Instruction Detection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2204293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Did the model find the right action? Measured via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on the binary present label.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2924323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2. Timeframe Quality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341009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If the action was found, did the model understand "2 weeks" = 14 days? Measured via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Mean Squared Error (MSE)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571500" y="4971901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3. Comparison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5457676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Does the structured pipeline offer more consistent detection and accurate timeframes compared to the baseline?</a:t>
            </a:r>
            <a:endParaRPr/>
          </a:p>
        </p:txBody>
      </p:sp>
      <p:pic>
        <p:nvPicPr>
          <p:cNvPr id="208" name="Google Shape;20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3112"/>
            <a:ext cx="38385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Metrics &amp; KPIs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043112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Microsoft Office PowerPoint</Application>
  <PresentationFormat>Widescreen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Merriweather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מיכל לאופר</dc:creator>
  <cp:lastModifiedBy>Michal Laufer</cp:lastModifiedBy>
  <cp:revision>1</cp:revision>
  <dcterms:modified xsi:type="dcterms:W3CDTF">2026-02-12T13:38:31Z</dcterms:modified>
</cp:coreProperties>
</file>