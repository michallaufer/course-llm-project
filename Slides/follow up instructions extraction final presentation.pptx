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95" r:id="rId2"/>
    <p:sldId id="297" r:id="rId3"/>
    <p:sldId id="300" r:id="rId4"/>
    <p:sldId id="263" r:id="rId5"/>
    <p:sldId id="264" r:id="rId6"/>
    <p:sldId id="271" r:id="rId7"/>
    <p:sldId id="272" r:id="rId8"/>
    <p:sldId id="265" r:id="rId9"/>
    <p:sldId id="273" r:id="rId10"/>
    <p:sldId id="274" r:id="rId11"/>
    <p:sldId id="266" r:id="rId12"/>
    <p:sldId id="267" r:id="rId13"/>
    <p:sldId id="268" r:id="rId14"/>
    <p:sldId id="275" r:id="rId15"/>
    <p:sldId id="299" r:id="rId16"/>
    <p:sldId id="293" r:id="rId17"/>
    <p:sldId id="279" r:id="rId18"/>
    <p:sldId id="257" r:id="rId19"/>
    <p:sldId id="277" r:id="rId20"/>
    <p:sldId id="278" r:id="rId21"/>
    <p:sldId id="269" r:id="rId22"/>
    <p:sldId id="286" r:id="rId23"/>
    <p:sldId id="301" r:id="rId24"/>
    <p:sldId id="303" r:id="rId25"/>
    <p:sldId id="290" r:id="rId26"/>
    <p:sldId id="287" r:id="rId27"/>
    <p:sldId id="289" r:id="rId28"/>
    <p:sldId id="296" r:id="rId29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75948" autoAdjust="0"/>
  </p:normalViewPr>
  <p:slideViewPr>
    <p:cSldViewPr snapToGrid="0">
      <p:cViewPr varScale="1">
        <p:scale>
          <a:sx n="62" d="100"/>
          <a:sy n="62" d="100"/>
        </p:scale>
        <p:origin x="149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02D168-4C65-4AE2-A4B3-D92FD551323D}" type="datetimeFigureOut">
              <a:rPr lang="en-IL" smtClean="0"/>
              <a:t>29/01/2026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840031-2A8E-4229-AB9B-DA7F9C56C45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190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2E55E-99B9-FC9A-764F-22E5689B2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922A5F-F5B8-7479-6D81-6F1A27CF5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0AFCF7-7831-9D3C-43F0-2EC400A29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F6D99-C7C7-2401-DC0E-00AB18DF33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3422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DFD12-F7B8-DA4A-1634-953BD15FC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717028-B970-5873-A543-46682A0C34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12EC4B-2CCB-E66E-6240-55081BCB4F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C216A-1383-EBD2-B122-DE21608259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953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255E9-4F9B-1C19-C38A-E59D6F182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F4BD51-195D-3839-F05D-D5F172D1CF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CF520B-0BD4-A9C6-2325-97FE82353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61FD9-93F9-CE1C-F33E-6A2D7BD120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472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40031-2A8E-4229-AB9B-DA7F9C56C457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395631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2D0F2-2C89-532B-13E1-1DEB10DE1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0E9536-C63D-D5FC-9B73-3DFFEBAE2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949A3E-957E-C0F9-DF61-9574C47276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38D6D-AEE6-867A-687A-704239B9E2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9065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ABC19-C723-A681-627F-B282FC5E5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2E0D44-0796-8CB2-EF49-3A603E1EE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B7472A-2A9E-B48D-43F3-D3C534AD8F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3C6B2-3B02-5B06-F93E-F79A3672E1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5715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40031-2A8E-4229-AB9B-DA7F9C56C457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455074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C56B1-F095-E3D2-5863-D8D4CD3B3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162DF1-2E85-6997-E75F-7F55F51ED9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30970A-088A-BDF4-2C88-B962C00778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D0D56-508F-554A-EBAF-95C1AF43C1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0502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40031-2A8E-4229-AB9B-DA7F9C56C457}" type="slidenum">
              <a:rPr lang="en-IL" smtClean="0"/>
              <a:t>18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604482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40031-2A8E-4229-AB9B-DA7F9C56C457}" type="slidenum">
              <a:rPr lang="en-IL" smtClean="0"/>
              <a:t>25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273524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40031-2A8E-4229-AB9B-DA7F9C56C457}" type="slidenum">
              <a:rPr lang="en-IL" smtClean="0"/>
              <a:t>26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082794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40031-2A8E-4229-AB9B-DA7F9C56C457}" type="slidenum">
              <a:rPr lang="en-IL" smtClean="0"/>
              <a:t>27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82192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1F023-3EAB-0A62-7DEA-2B24C7542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6641AF-7BB7-29C3-C08C-3102147F1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205D7-B99C-CFEB-6FFE-5FD9CF71B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8AA1-DA3A-4C01-A973-7781369E116F}" type="datetimeFigureOut">
              <a:rPr lang="en-IL" smtClean="0"/>
              <a:t>29/01/2026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855A8-629A-E869-6675-A4117242C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B26F2-3489-FD2B-FE9B-20D533EF6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B29F-94CD-4948-9C17-E9EE5DE3D9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03444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E67E6-E42D-5A9F-B916-B1687C2B7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EBABA-CAA7-425A-8F4F-9475668CE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60E1F-84C5-D98F-50FE-28B9527D5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8AA1-DA3A-4C01-A973-7781369E116F}" type="datetimeFigureOut">
              <a:rPr lang="en-IL" smtClean="0"/>
              <a:t>29/01/2026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0E3C5-11C2-3E2B-267A-7D6307EB0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645FB-FCCE-EC4B-8272-DBF4DE124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B29F-94CD-4948-9C17-E9EE5DE3D9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9092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D0797-3003-E69F-5FFF-FA5869BEF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B3E68A-1A9E-7D2C-1883-FA3F8C760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67F92-FFAD-7877-00FD-13A25BCD9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8AA1-DA3A-4C01-A973-7781369E116F}" type="datetimeFigureOut">
              <a:rPr lang="en-IL" smtClean="0"/>
              <a:t>29/01/2026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C00D3-C312-EB11-FD36-C348DDB9E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CA03C-405D-9A1E-7EFD-28DF0810D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B29F-94CD-4948-9C17-E9EE5DE3D9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90935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2680F-A6D6-7B2E-2E3A-B2AC89429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3E6B4-AD13-52E9-CBA8-F5267E28CC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DECE78-3F36-CAFE-8E51-E995078F2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E497CB-BC29-10C4-7A66-B314E57F2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8AA1-DA3A-4C01-A973-7781369E116F}" type="datetimeFigureOut">
              <a:rPr lang="en-IL" smtClean="0"/>
              <a:t>29/01/2026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E1AF43-FE71-A258-50C5-332CCEF2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AA82D4-B7F8-4BCA-9152-0AB2AC2B9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B29F-94CD-4948-9C17-E9EE5DE3D9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13326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A7652-A00D-CF3B-3AC7-B6E685B6B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36C86-0D4D-CFFE-4F39-C6A786FF3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114491-0682-A920-5C40-B10F95F24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6A5587-1A86-55B3-8881-43A4479539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5EC68F-1978-3C36-AC46-E49F76F72E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E2760C-C482-EDE2-5565-2F55431DD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8AA1-DA3A-4C01-A973-7781369E116F}" type="datetimeFigureOut">
              <a:rPr lang="en-IL" smtClean="0"/>
              <a:t>29/01/2026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8C67D1-4CBA-F384-0D3F-7F79DDE99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508E6A-CA86-9296-658C-311B50A59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B29F-94CD-4948-9C17-E9EE5DE3D9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20488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61771-C637-9558-7E8F-8F23699A3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C381FB-2168-DFFB-2416-03DECA940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8AA1-DA3A-4C01-A973-7781369E116F}" type="datetimeFigureOut">
              <a:rPr lang="en-IL" smtClean="0"/>
              <a:t>29/01/2026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37541C-F619-8C76-70AD-74DC36198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6E9E8E-5961-A526-1B20-E83C243E2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B29F-94CD-4948-9C17-E9EE5DE3D9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50507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4FB4C1-BAFB-4AD4-33A8-6D6C3FCD5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8AA1-DA3A-4C01-A973-7781369E116F}" type="datetimeFigureOut">
              <a:rPr lang="en-IL" smtClean="0"/>
              <a:t>29/01/2026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97ECC4-22B1-DF87-693B-F09AD8E4E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934DC-40BE-5471-B4B6-579FC146C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B29F-94CD-4948-9C17-E9EE5DE3D9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63606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2C01D-05A7-FD60-17BF-A7D6A467E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048B2-6DFF-9DB2-7832-1A0CFC5D5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D14AC6-6A0D-E96F-F99A-5B22BD434A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DF632-A7C0-F494-C442-6E46906DB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8AA1-DA3A-4C01-A973-7781369E116F}" type="datetimeFigureOut">
              <a:rPr lang="en-IL" smtClean="0"/>
              <a:t>29/01/2026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FF3870-D37C-53D5-9648-1F394D233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F8FC8-E19C-A21B-95A4-A426E6E0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B29F-94CD-4948-9C17-E9EE5DE3D9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18118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684D2-F83D-DEFD-4634-05B4528C7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468EFE-E2A5-2716-98D5-BD85D08DAB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01716-4509-EC6E-9CB4-EFBFCCD231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31CC0-4419-A9FA-A646-13E0874E5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8AA1-DA3A-4C01-A973-7781369E116F}" type="datetimeFigureOut">
              <a:rPr lang="en-IL" smtClean="0"/>
              <a:t>29/01/2026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7CD3A6-E1DD-E61E-4668-DB763EB4F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B9FA2-F57E-4F1E-FFD7-850267DF3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B29F-94CD-4948-9C17-E9EE5DE3D9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49702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EED76-C089-5056-6C56-552A0088D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C227A9-D427-7017-CEF8-FFC4D5B5F3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2C490-D8A9-563A-2135-D5AE9A481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8AA1-DA3A-4C01-A973-7781369E116F}" type="datetimeFigureOut">
              <a:rPr lang="en-IL" smtClean="0"/>
              <a:t>29/01/2026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ECEFD-7346-064D-6E24-F6D249EA5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1B69A-0B05-B443-0387-57E42F5A1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B29F-94CD-4948-9C17-E9EE5DE3D9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98895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9699B2-EAFF-2E8F-A248-1221188A19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96A92A-D6E9-B19C-B622-470CAF95A2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65027-9668-FD39-B6FB-D05C2F366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8AA1-DA3A-4C01-A973-7781369E116F}" type="datetimeFigureOut">
              <a:rPr lang="en-IL" smtClean="0"/>
              <a:t>29/01/2026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63350-B22B-6904-F567-6FBC6806D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E4CC7-F23C-BE79-B3A7-CF037C398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B29F-94CD-4948-9C17-E9EE5DE3D9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02906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9820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64CA92-024A-DD68-67EE-1E1A5DA3A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A19879-DAE8-2D31-AD6C-E644CCB17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D7037-52C3-6246-DBE6-E6685FFC5B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E48AA1-DA3A-4C01-A973-7781369E116F}" type="datetimeFigureOut">
              <a:rPr lang="en-IL" smtClean="0"/>
              <a:t>29/01/2026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05E71-3EAA-2DDF-AD54-F78027CF77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973C5-3891-9789-7D96-9EBEC7621D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B9B29F-94CD-4948-9C17-E9EE5DE3D99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41025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5B7E1-6722-4850-E2A7-BD4DF52D6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BC2A553-E5FF-9C88-0735-17162FDD7E18}"/>
              </a:ext>
            </a:extLst>
          </p:cNvPr>
          <p:cNvSpPr/>
          <p:nvPr/>
        </p:nvSpPr>
        <p:spPr>
          <a:xfrm>
            <a:off x="339968" y="320040"/>
            <a:ext cx="11272912" cy="594360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254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88F921C-3475-8876-D259-C413FAEB58BD}"/>
              </a:ext>
            </a:extLst>
          </p:cNvPr>
          <p:cNvSpPr/>
          <p:nvPr/>
        </p:nvSpPr>
        <p:spPr>
          <a:xfrm>
            <a:off x="777240" y="39319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— Project definition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CB467FA-4D86-934C-75D3-36BA7B868392}"/>
              </a:ext>
            </a:extLst>
          </p:cNvPr>
          <p:cNvSpPr/>
          <p:nvPr/>
        </p:nvSpPr>
        <p:spPr>
          <a:xfrm>
            <a:off x="321212" y="1037811"/>
            <a:ext cx="5896707" cy="249012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A8F3127-7BD2-3748-7DE3-AA06B1F81C44}"/>
              </a:ext>
            </a:extLst>
          </p:cNvPr>
          <p:cNvSpPr/>
          <p:nvPr/>
        </p:nvSpPr>
        <p:spPr>
          <a:xfrm>
            <a:off x="579120" y="12207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2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14E3442-EEBB-F85F-927C-4CA2771E58C8}"/>
              </a:ext>
            </a:extLst>
          </p:cNvPr>
          <p:cNvSpPr/>
          <p:nvPr/>
        </p:nvSpPr>
        <p:spPr>
          <a:xfrm>
            <a:off x="457200" y="1615429"/>
            <a:ext cx="5349240" cy="15378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notes embed follow-up instructions in free text.</a:t>
            </a: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follow-up items into machine-readable JSON</a:t>
            </a: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completion can be checked downstream (EHR / workflows).</a:t>
            </a:r>
            <a:endParaRPr lang="en-US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5606C98-AAD3-8B29-1BD4-7BCD2F239BDB}"/>
              </a:ext>
            </a:extLst>
          </p:cNvPr>
          <p:cNvSpPr/>
          <p:nvPr/>
        </p:nvSpPr>
        <p:spPr>
          <a:xfrm>
            <a:off x="339968" y="3835941"/>
            <a:ext cx="5877951" cy="278555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7860568-EDB6-3FC7-03D5-1550707C9E46}"/>
              </a:ext>
            </a:extLst>
          </p:cNvPr>
          <p:cNvSpPr/>
          <p:nvPr/>
        </p:nvSpPr>
        <p:spPr>
          <a:xfrm>
            <a:off x="777240" y="4142265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(input → output)</a:t>
            </a:r>
            <a:endParaRPr lang="en-US" sz="2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93AEA76-7288-2386-FE7F-0696B2DE86E6}"/>
              </a:ext>
            </a:extLst>
          </p:cNvPr>
          <p:cNvSpPr/>
          <p:nvPr/>
        </p:nvSpPr>
        <p:spPr>
          <a:xfrm>
            <a:off x="764343" y="4536970"/>
            <a:ext cx="5029200" cy="13150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outpatient visit note text (includes visit date).</a:t>
            </a: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list of scheduled follow-ups:</a:t>
            </a: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[{ action, period_date }]</a:t>
            </a: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Internally: extract period</a:t>
            </a:r>
            <a:r>
              <a:rPr lang="he-IL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(“two weeks”) span then normalize to date.</a:t>
            </a:r>
            <a:endParaRPr 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9BBFE96-6916-76B5-48A2-BD6AEF132A2A}"/>
              </a:ext>
            </a:extLst>
          </p:cNvPr>
          <p:cNvSpPr/>
          <p:nvPr/>
        </p:nvSpPr>
        <p:spPr>
          <a:xfrm>
            <a:off x="6492240" y="1188720"/>
            <a:ext cx="5120640" cy="384048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What we compare</a:t>
            </a:r>
            <a:endParaRPr lang="en-US" sz="2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3BC79A1-7CBC-0D22-716C-0EC8474E71FF}"/>
              </a:ext>
            </a:extLst>
          </p:cNvPr>
          <p:cNvSpPr/>
          <p:nvPr/>
        </p:nvSpPr>
        <p:spPr>
          <a:xfrm>
            <a:off x="6583680" y="1801827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BioBERT pipeline: NER(ACT/TIME) + learned linking head + dateparser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LLaMA fine-tune (LoRA): direct JSON extraction baseline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ChatGPT zero-shot: prompt-only baseline</a:t>
            </a: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3B8F77C-3F45-A621-7928-F54585AEC8ED}"/>
              </a:ext>
            </a:extLst>
          </p:cNvPr>
          <p:cNvSpPr/>
          <p:nvPr/>
        </p:nvSpPr>
        <p:spPr>
          <a:xfrm>
            <a:off x="6492240" y="3153305"/>
            <a:ext cx="5120640" cy="38404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Key metrics</a:t>
            </a:r>
            <a:endParaRPr lang="en-US" sz="2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C6F6D8C-AEE1-44FF-B0B2-954F54D83DFD}"/>
              </a:ext>
            </a:extLst>
          </p:cNvPr>
          <p:cNvSpPr/>
          <p:nvPr/>
        </p:nvSpPr>
        <p:spPr>
          <a:xfrm>
            <a:off x="6583680" y="3774821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 span F1, Time span F1</a:t>
            </a: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End-to-end Action+Date F1</a:t>
            </a: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Date MAE (days) on matched actions</a:t>
            </a:r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A8FF5F1-1DC7-FBDA-7058-FEB8C6C0B0CD}"/>
              </a:ext>
            </a:extLst>
          </p:cNvPr>
          <p:cNvSpPr/>
          <p:nvPr/>
        </p:nvSpPr>
        <p:spPr>
          <a:xfrm>
            <a:off x="6583680" y="5036693"/>
            <a:ext cx="5120640" cy="384048"/>
          </a:xfrm>
          <a:prstGeom prst="rect">
            <a:avLst/>
          </a:prstGeom>
          <a:solidFill>
            <a:srgbClr val="A21CAF"/>
          </a:solidFill>
          <a:ln>
            <a:solidFill>
              <a:srgbClr val="A21CAF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Datasets</a:t>
            </a:r>
            <a:endParaRPr lang="en-US" sz="2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E42E086-AA0E-0925-3AC4-04A3C97C2AD5}"/>
              </a:ext>
            </a:extLst>
          </p:cNvPr>
          <p:cNvSpPr/>
          <p:nvPr/>
        </p:nvSpPr>
        <p:spPr>
          <a:xfrm>
            <a:off x="6583680" y="5676773"/>
            <a:ext cx="5029200" cy="464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diverse  doctor visit notes for closed set action of 28 actions.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705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extract follow-up instructions?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106372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notes are rich—but not machine-readable.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4330" y="1920240"/>
            <a:ext cx="595503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becomes possible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check if patients completed ordered follow-ups (via EHR queries)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reminders / outreach for overdue items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triage and care coordination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chart review and quality monitoring effort</a:t>
            </a:r>
          </a:p>
          <a:p>
            <a:pPr>
              <a:spcAft>
                <a:spcPts val="400"/>
              </a:spcAft>
              <a:buSzPct val="100000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“MRI in 2 weeks”-&gt;</a:t>
            </a:r>
          </a:p>
          <a:p>
            <a:pPr>
              <a:spcAft>
                <a:spcPts val="400"/>
              </a:spcAft>
              <a:buSzPct val="100000"/>
            </a:pPr>
            <a:r>
              <a:rPr lang="en-IL" sz="2000" dirty="0"/>
              <a:t>{"action": "MRI", "period_date": "2025-03-08"}</a:t>
            </a:r>
          </a:p>
          <a:p>
            <a:pPr>
              <a:spcAft>
                <a:spcPts val="400"/>
              </a:spcAft>
              <a:buSzPct val="100000"/>
            </a:pP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37960" y="1920240"/>
            <a:ext cx="552069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6858000" y="2148840"/>
            <a:ext cx="4233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hard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49440" y="2560320"/>
            <a:ext cx="4142232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actions and multiple time phrases in the same note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history vs future plan time expressions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and time can be non-adjacent (time-first, split lines, parentheses)</a:t>
            </a:r>
            <a:endParaRPr lang="en-US" sz="2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ambiguity when 2 actions + 2 time phrases appear together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3348" y="1418983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IE task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39BD5"/>
          </a:solidFill>
          <a:ln w="12700">
            <a:solidFill>
              <a:srgbClr val="139BD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Dataset 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285750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generated &amp; labeled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40817" y="3424428"/>
            <a:ext cx="56692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285750" y="3429000"/>
            <a:ext cx="5669280" cy="1113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13360" indent="-213360">
              <a:spcAft>
                <a:spcPts val="42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notes across 5 specialties (Orthopedic, Cardio/Pulm, GI, Neuro, General).</a:t>
            </a:r>
            <a:endParaRPr lang="en-US" sz="2000" dirty="0"/>
          </a:p>
          <a:p>
            <a:pPr marL="213360" indent="-213360">
              <a:spcAft>
                <a:spcPts val="42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note contains a visit date and optionally a plan header; 0–2 scheduled items per note.</a:t>
            </a:r>
            <a:endParaRPr lang="en-US" sz="2000" dirty="0"/>
          </a:p>
          <a:p>
            <a:pPr marL="213360" indent="-213360">
              <a:spcAft>
                <a:spcPts val="42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per scheduled item: action (closed set), period_text, computed period_date, plus character spans (action/time) for BIO training.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926580" y="858393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technique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522415" y="1296162"/>
            <a:ext cx="56692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L" dirty="0"/>
          </a:p>
        </p:txBody>
      </p:sp>
      <p:sp>
        <p:nvSpPr>
          <p:cNvPr id="9" name="Text 7"/>
          <p:cNvSpPr/>
          <p:nvPr/>
        </p:nvSpPr>
        <p:spPr>
          <a:xfrm>
            <a:off x="6435090" y="1469898"/>
            <a:ext cx="5669280" cy="1113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13360" indent="-213360">
              <a:spcAft>
                <a:spcPts val="42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Skeleton-first: sample specialty/topic/styles, visit date, actions, and deterministic timing phrase templates.</a:t>
            </a:r>
            <a:endParaRPr lang="en-US" sz="2000" dirty="0"/>
          </a:p>
          <a:p>
            <a:pPr marL="213360" indent="-213360">
              <a:spcAft>
                <a:spcPts val="42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writes the narrative note; plan section uses a random header and includes exactly the allowed scheduled items.</a:t>
            </a:r>
            <a:endParaRPr lang="en-US" sz="2000" dirty="0"/>
          </a:p>
          <a:p>
            <a:pPr marL="213360" indent="-213360">
              <a:spcAft>
                <a:spcPts val="42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period_date label computed with dateparser using RELATIVE_BASE = visit date .</a:t>
            </a:r>
            <a:endParaRPr lang="en-US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D8A745-E57E-E6F2-502C-603238486A8A}"/>
              </a:ext>
            </a:extLst>
          </p:cNvPr>
          <p:cNvSpPr txBox="1"/>
          <p:nvPr/>
        </p:nvSpPr>
        <p:spPr>
          <a:xfrm>
            <a:off x="548640" y="967085"/>
            <a:ext cx="512094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Goal: generate realistic, diverse outpatient notes with controlled ground truth</a:t>
            </a:r>
          </a:p>
          <a:p>
            <a:endParaRPr lang="en-IL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178B7533-4709-C73B-3EDF-BA70F07FC3B3}"/>
              </a:ext>
            </a:extLst>
          </p:cNvPr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88D05C-F89B-A4C6-083D-D70A9BA69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Synthetic Dataset Generation</a:t>
            </a:r>
            <a:br>
              <a:rPr lang="en-US" b="1" dirty="0">
                <a:solidFill>
                  <a:schemeClr val="tx2"/>
                </a:solidFill>
              </a:rPr>
            </a:br>
            <a:endParaRPr lang="en-IL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9FEAE-B476-B9A7-5AFB-710AFBC85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046" y="1391285"/>
            <a:ext cx="10515600" cy="4351338"/>
          </a:xfrm>
        </p:spPr>
        <p:txBody>
          <a:bodyPr/>
          <a:lstStyle/>
          <a:p>
            <a:r>
              <a:rPr lang="en-US" dirty="0"/>
              <a:t>T</a:t>
            </a:r>
            <a:r>
              <a:rPr lang="en-US" sz="3200" dirty="0"/>
              <a:t>o ensure the downstream NLP models (</a:t>
            </a:r>
            <a:r>
              <a:rPr lang="en-US" sz="3200" dirty="0" err="1"/>
              <a:t>BioBERT</a:t>
            </a:r>
            <a:r>
              <a:rPr lang="en-US" sz="3200" dirty="0"/>
              <a:t>, Llama) generalize effectively to real-world clinical noise, the dataset generation process was engineered to maximize variance across four key axes: </a:t>
            </a:r>
            <a:r>
              <a:rPr lang="en-US" sz="3200" b="1" dirty="0"/>
              <a:t>Clinical Domain</a:t>
            </a:r>
            <a:r>
              <a:rPr lang="en-US" sz="3200" dirty="0"/>
              <a:t>, </a:t>
            </a:r>
            <a:r>
              <a:rPr lang="en-US" sz="3200" b="1" dirty="0"/>
              <a:t>Linguistic Style</a:t>
            </a:r>
            <a:r>
              <a:rPr lang="en-US" sz="3200" dirty="0"/>
              <a:t>, </a:t>
            </a:r>
            <a:r>
              <a:rPr lang="en-US" sz="3200" b="1" dirty="0"/>
              <a:t>Temporal Expression</a:t>
            </a:r>
            <a:r>
              <a:rPr lang="en-US" sz="3200" dirty="0"/>
              <a:t>, and </a:t>
            </a:r>
            <a:r>
              <a:rPr lang="en-US" sz="3200" b="1" dirty="0"/>
              <a:t>Structural Formatting</a:t>
            </a:r>
            <a:r>
              <a:rPr lang="en-US" sz="3200" dirty="0"/>
              <a:t>.</a:t>
            </a:r>
          </a:p>
          <a:p>
            <a:r>
              <a:rPr lang="en-US" sz="3200" dirty="0"/>
              <a:t>The goal was to move beyond simple template-filling and create a dataset that mimics the "long tail" of irregularity found in genuine Electronic Health Records (EHRs).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671483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3813663B-26C4-966F-513B-198A8CD32807}"/>
              </a:ext>
            </a:extLst>
          </p:cNvPr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A88796-17EE-9C14-A949-5A1A21630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Clinical Domain Diversity</a:t>
            </a:r>
            <a:endParaRPr lang="en-IL"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F49ED-A93E-BCDB-2B1D-C1EBF0AE9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131570"/>
            <a:ext cx="11041380" cy="572643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To prevent the model from overfitting to specific medical vocabularies, we implemented a broad coverage of clinical scenarios.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Breadth of Specialties:</a:t>
            </a:r>
            <a:r>
              <a:rPr lang="en-US" sz="2400" dirty="0"/>
              <a:t> The generator rotates through 5 distinct medical domains: </a:t>
            </a:r>
            <a:r>
              <a:rPr lang="en-US" sz="2400" i="1" dirty="0"/>
              <a:t>Orthopedics, Cardiovascular/Pulmonary, Gastroenterology, Neurology, and General Medicine.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/>
              <a:t>Condition Granularity:</a:t>
            </a:r>
            <a:r>
              <a:rPr lang="en-US" sz="2400" dirty="0"/>
              <a:t> Each specialty draws from a pool of specific pathologies (e.g., </a:t>
            </a:r>
            <a:r>
              <a:rPr lang="en-US" sz="2400" i="1" dirty="0"/>
              <a:t>ACL Tear</a:t>
            </a:r>
            <a:r>
              <a:rPr lang="en-US" sz="2400" dirty="0"/>
              <a:t> vs. </a:t>
            </a:r>
            <a:r>
              <a:rPr lang="en-US" sz="2400" i="1" dirty="0"/>
              <a:t>Lumbar Herniated Disc</a:t>
            </a:r>
            <a:r>
              <a:rPr lang="en-US" sz="2400" dirty="0"/>
              <a:t> in Orthopedics; </a:t>
            </a:r>
            <a:r>
              <a:rPr lang="en-US" sz="2400" i="1" dirty="0"/>
              <a:t>Atrial Fibrillation</a:t>
            </a:r>
            <a:r>
              <a:rPr lang="en-US" sz="2400" dirty="0"/>
              <a:t> vs. </a:t>
            </a:r>
            <a:r>
              <a:rPr lang="en-US" sz="2400" i="1" dirty="0"/>
              <a:t>COPD</a:t>
            </a:r>
            <a:r>
              <a:rPr lang="en-US" sz="2400" dirty="0"/>
              <a:t> in Cardio). This ensures the model encounters diverse symptom descriptions and medical reasoning.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Action Variety:</a:t>
            </a:r>
            <a:r>
              <a:rPr lang="en-US" sz="2400" dirty="0"/>
              <a:t> The target labels (actions) range from imaging (</a:t>
            </a:r>
            <a:r>
              <a:rPr lang="en-US" sz="2400" i="1" dirty="0"/>
              <a:t>MRI, CT Scan</a:t>
            </a:r>
            <a:r>
              <a:rPr lang="en-US" sz="2400" dirty="0"/>
              <a:t>) to procedures (</a:t>
            </a:r>
            <a:r>
              <a:rPr lang="en-US" sz="2400" i="1" dirty="0"/>
              <a:t>Endoscopy, Joint Injection</a:t>
            </a:r>
            <a:r>
              <a:rPr lang="en-US" sz="2400" dirty="0"/>
              <a:t>) and consultations (</a:t>
            </a:r>
            <a:r>
              <a:rPr lang="en-US" sz="2400" i="1" dirty="0"/>
              <a:t>Physical Therapy, GI Consult</a:t>
            </a:r>
            <a:r>
              <a:rPr lang="en-US" sz="2400" dirty="0"/>
              <a:t>).</a:t>
            </a:r>
          </a:p>
          <a:p>
            <a:pPr>
              <a:lnSpc>
                <a:spcPct val="150000"/>
              </a:lnSpc>
            </a:pPr>
            <a:endParaRPr lang="en-IL" sz="2400" dirty="0"/>
          </a:p>
        </p:txBody>
      </p:sp>
    </p:spTree>
    <p:extLst>
      <p:ext uri="{BB962C8B-B14F-4D97-AF65-F5344CB8AC3E}">
        <p14:creationId xmlns:p14="http://schemas.microsoft.com/office/powerpoint/2010/main" val="2641370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6C036-91D3-3DD1-B472-DBC002809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61D6C35-FA1E-A52F-90B6-1653F544D230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39BD5"/>
          </a:solidFill>
          <a:ln w="12700">
            <a:solidFill>
              <a:srgbClr val="139BD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50AF801-FF38-D4BB-B069-F0013083C9D5}"/>
              </a:ext>
            </a:extLst>
          </p:cNvPr>
          <p:cNvSpPr/>
          <p:nvPr/>
        </p:nvSpPr>
        <p:spPr>
          <a:xfrm>
            <a:off x="548640" y="1097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Dataset 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A25FFD9-D0CF-7B3F-2E0D-B5829B41162B}"/>
              </a:ext>
            </a:extLst>
          </p:cNvPr>
          <p:cNvSpPr/>
          <p:nvPr/>
        </p:nvSpPr>
        <p:spPr>
          <a:xfrm>
            <a:off x="208471" y="869357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diverse dataset</a:t>
            </a:r>
            <a:endParaRPr lang="en-US" sz="1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F581D63-ADD3-BBD1-F4AD-4E43F78333CA}"/>
              </a:ext>
            </a:extLst>
          </p:cNvPr>
          <p:cNvSpPr/>
          <p:nvPr/>
        </p:nvSpPr>
        <p:spPr>
          <a:xfrm>
            <a:off x="288996" y="1189397"/>
            <a:ext cx="56692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B0626C4-1B74-60DF-E0CB-2BFB45EF1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01" y="1375662"/>
            <a:ext cx="10764329" cy="5339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070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74F68-D47E-076A-19D3-FCE696902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24EE59A-EE0E-92C1-A47B-2F3244F7500F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39BD5"/>
          </a:solidFill>
          <a:ln w="12700">
            <a:solidFill>
              <a:srgbClr val="139BD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3342A7D-C7A9-5740-2D3E-FE240E593FC2}"/>
              </a:ext>
            </a:extLst>
          </p:cNvPr>
          <p:cNvSpPr/>
          <p:nvPr/>
        </p:nvSpPr>
        <p:spPr>
          <a:xfrm>
            <a:off x="548640" y="1097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1BE70AF-4649-91F6-34C9-1CB9C8C98675}"/>
              </a:ext>
            </a:extLst>
          </p:cNvPr>
          <p:cNvSpPr/>
          <p:nvPr/>
        </p:nvSpPr>
        <p:spPr>
          <a:xfrm>
            <a:off x="288996" y="1189397"/>
            <a:ext cx="56692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2BDC84E-EB87-9BFC-BA6F-79420E275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48" y="557505"/>
            <a:ext cx="7981122" cy="630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084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C6D9D-F8E8-7F15-E757-69DAF2272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456" y="-160497"/>
            <a:ext cx="10515600" cy="1325563"/>
          </a:xfrm>
        </p:spPr>
        <p:txBody>
          <a:bodyPr/>
          <a:lstStyle/>
          <a:p>
            <a:r>
              <a:rPr lang="en-US" dirty="0"/>
              <a:t>Linguistic Diversity (Stylistic Variance)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1899E-3136-8518-C7E0-E04033F82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456" y="1006997"/>
            <a:ext cx="10926914" cy="554427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A major innovation in this pipeline is the STYLE_FEATURES_DICT, which randomly injects stylistic constraints into the LLM prompt. This prevents the "synthetic distinctness" often seen in AI-generated text.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Narrative Voice:</a:t>
            </a:r>
            <a:r>
              <a:rPr lang="en-US" sz="2000" dirty="0"/>
              <a:t> Shifts between </a:t>
            </a:r>
            <a:r>
              <a:rPr lang="en-US" sz="2000" i="1" dirty="0"/>
              <a:t>First Person</a:t>
            </a:r>
            <a:r>
              <a:rPr lang="en-US" sz="2000" dirty="0"/>
              <a:t> ("I recommend...") and </a:t>
            </a:r>
            <a:r>
              <a:rPr lang="en-US" sz="2000" i="1" dirty="0"/>
              <a:t>Third Person/Passive</a:t>
            </a:r>
            <a:r>
              <a:rPr lang="en-US" sz="2000" dirty="0"/>
              <a:t> ("Patient to return...").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Tone &amp; Persona:</a:t>
            </a:r>
            <a:r>
              <a:rPr lang="en-US" sz="2000" dirty="0"/>
              <a:t> Simulates different clinician archetypes, from the </a:t>
            </a:r>
            <a:r>
              <a:rPr lang="en-US" sz="2000" i="1" dirty="0"/>
              <a:t>Educator</a:t>
            </a:r>
            <a:r>
              <a:rPr lang="en-US" sz="2000" dirty="0"/>
              <a:t> (who explains the 'why') to the </a:t>
            </a:r>
            <a:r>
              <a:rPr lang="en-US" sz="2000" i="1" dirty="0"/>
              <a:t>Burnout/Hasty</a:t>
            </a:r>
            <a:r>
              <a:rPr lang="en-US" sz="2000" dirty="0"/>
              <a:t> clinician (telegraphic, minimum viable documentation).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Simulated Noise:</a:t>
            </a:r>
            <a:endParaRPr lang="en-US" sz="2000" dirty="0"/>
          </a:p>
          <a:p>
            <a:pPr lvl="1">
              <a:lnSpc>
                <a:spcPct val="150000"/>
              </a:lnSpc>
            </a:pPr>
            <a:r>
              <a:rPr lang="en-US" sz="1800" b="1" dirty="0"/>
              <a:t>Typos:</a:t>
            </a:r>
            <a:r>
              <a:rPr lang="en-US" sz="1800" dirty="0"/>
              <a:t> Simulated fast-typing errors (e.g., "</a:t>
            </a:r>
            <a:r>
              <a:rPr lang="en-US" sz="1800" dirty="0" err="1"/>
              <a:t>pateint</a:t>
            </a:r>
            <a:r>
              <a:rPr lang="en-US" sz="1800" dirty="0"/>
              <a:t>").</a:t>
            </a:r>
          </a:p>
          <a:p>
            <a:pPr lvl="1">
              <a:lnSpc>
                <a:spcPct val="150000"/>
              </a:lnSpc>
            </a:pPr>
            <a:r>
              <a:rPr lang="en-US" sz="1800" b="1" dirty="0"/>
              <a:t>Dictation Artifacts:</a:t>
            </a:r>
            <a:r>
              <a:rPr lang="en-US" sz="1800" dirty="0"/>
              <a:t> Run-on sentences and missing punctuation typical of voice-to-text software.</a:t>
            </a:r>
          </a:p>
          <a:p>
            <a:pPr lvl="1">
              <a:lnSpc>
                <a:spcPct val="150000"/>
              </a:lnSpc>
            </a:pPr>
            <a:r>
              <a:rPr lang="en-US" sz="1800" b="1" dirty="0"/>
              <a:t>Shorthand:</a:t>
            </a:r>
            <a:r>
              <a:rPr lang="en-US" sz="1800" dirty="0"/>
              <a:t> Heavy use of clinical abbreviations ("c/o CP, SOB" vs. "complains of chest pain, shortness of breath").</a:t>
            </a:r>
          </a:p>
          <a:p>
            <a:endParaRPr lang="en-IL" sz="2000" dirty="0"/>
          </a:p>
        </p:txBody>
      </p:sp>
    </p:spTree>
    <p:extLst>
      <p:ext uri="{BB962C8B-B14F-4D97-AF65-F5344CB8AC3E}">
        <p14:creationId xmlns:p14="http://schemas.microsoft.com/office/powerpoint/2010/main" val="547156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21094-50D5-6369-750E-7BB6637C8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D309E01-39F5-219D-5B74-EB3BCF944DBA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39BD5"/>
          </a:solidFill>
          <a:ln w="12700">
            <a:solidFill>
              <a:srgbClr val="139BD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115D3EB-9EDA-B85D-743B-C16C50E11AA0}"/>
              </a:ext>
            </a:extLst>
          </p:cNvPr>
          <p:cNvSpPr/>
          <p:nvPr/>
        </p:nvSpPr>
        <p:spPr>
          <a:xfrm>
            <a:off x="548640" y="1097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7D516D8-B675-77C1-8C32-7DB484CD25A4}"/>
              </a:ext>
            </a:extLst>
          </p:cNvPr>
          <p:cNvSpPr/>
          <p:nvPr/>
        </p:nvSpPr>
        <p:spPr>
          <a:xfrm>
            <a:off x="208471" y="869357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note style</a:t>
            </a:r>
            <a:endParaRPr lang="en-US" sz="1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F0BF876-2170-555C-E9EE-93916B7D7822}"/>
              </a:ext>
            </a:extLst>
          </p:cNvPr>
          <p:cNvSpPr/>
          <p:nvPr/>
        </p:nvSpPr>
        <p:spPr>
          <a:xfrm>
            <a:off x="288996" y="1189397"/>
            <a:ext cx="56692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21B75B5B-F72E-CE04-69B6-11A735CE495B}"/>
              </a:ext>
            </a:extLst>
          </p:cNvPr>
          <p:cNvSpPr/>
          <p:nvPr/>
        </p:nvSpPr>
        <p:spPr>
          <a:xfrm>
            <a:off x="426721" y="137730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18ABB8-2E32-B448-6182-CAF9B6D5B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70" y="599342"/>
            <a:ext cx="7212237" cy="623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817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6CD88-ED6A-CFB5-19E2-4CC60AF96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E3BAD3F-9E08-E3E1-076A-80F926D4490D}"/>
              </a:ext>
            </a:extLst>
          </p:cNvPr>
          <p:cNvSpPr/>
          <p:nvPr/>
        </p:nvSpPr>
        <p:spPr>
          <a:xfrm>
            <a:off x="0" y="-39367"/>
            <a:ext cx="12191695" cy="566928"/>
          </a:xfrm>
          <a:prstGeom prst="rect">
            <a:avLst/>
          </a:prstGeom>
          <a:solidFill>
            <a:srgbClr val="139BD5"/>
          </a:solidFill>
          <a:ln w="12700">
            <a:solidFill>
              <a:srgbClr val="139BD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49BA24-BAE7-C619-EFE8-69DDEC093E11}"/>
              </a:ext>
            </a:extLst>
          </p:cNvPr>
          <p:cNvSpPr/>
          <p:nvPr/>
        </p:nvSpPr>
        <p:spPr>
          <a:xfrm>
            <a:off x="548640" y="1097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4DA7A38-974A-E6DA-4530-4BECC668E602}"/>
              </a:ext>
            </a:extLst>
          </p:cNvPr>
          <p:cNvSpPr/>
          <p:nvPr/>
        </p:nvSpPr>
        <p:spPr>
          <a:xfrm>
            <a:off x="208471" y="869357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note style</a:t>
            </a:r>
            <a:endParaRPr lang="en-US" sz="1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CFB343E-EDC8-B614-0159-E90A7DCBC84D}"/>
              </a:ext>
            </a:extLst>
          </p:cNvPr>
          <p:cNvSpPr/>
          <p:nvPr/>
        </p:nvSpPr>
        <p:spPr>
          <a:xfrm>
            <a:off x="288996" y="1189397"/>
            <a:ext cx="56692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27B11265-B20D-1EBC-1805-9B6DC7160F3F}"/>
              </a:ext>
            </a:extLst>
          </p:cNvPr>
          <p:cNvSpPr/>
          <p:nvPr/>
        </p:nvSpPr>
        <p:spPr>
          <a:xfrm>
            <a:off x="426721" y="137730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ADF95E-E200-745F-12B4-20A9DF124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95" y="624582"/>
            <a:ext cx="7952328" cy="608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236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E0F83-3E95-C8E8-EFE6-92352DF69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762" y="75854"/>
            <a:ext cx="10515600" cy="1325563"/>
          </a:xfrm>
        </p:spPr>
        <p:txBody>
          <a:bodyPr/>
          <a:lstStyle/>
          <a:p>
            <a:r>
              <a:rPr lang="en-US" dirty="0"/>
              <a:t>Temporal Expression Diversity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633C8-266C-1ABA-01FF-65986D4E7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323" y="1401417"/>
            <a:ext cx="10916478" cy="509145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Temporal Expression Diversity</a:t>
            </a:r>
          </a:p>
          <a:p>
            <a:r>
              <a:rPr lang="en-US" dirty="0"/>
              <a:t>Since the core task is </a:t>
            </a:r>
            <a:r>
              <a:rPr lang="en-US" b="1" dirty="0"/>
              <a:t>Time Extraction</a:t>
            </a:r>
            <a:r>
              <a:rPr lang="en-US" dirty="0"/>
              <a:t>, the dataset rigorously varies how time is encoded. The model must learn semantic equivalence across these formats:</a:t>
            </a:r>
          </a:p>
          <a:p>
            <a:r>
              <a:rPr lang="en-US" b="1" dirty="0"/>
              <a:t>Units &amp; Numerals:</a:t>
            </a:r>
            <a:r>
              <a:rPr lang="en-US" dirty="0"/>
              <a:t> Random mixing of digits vs. words ("7 days" vs. "seven days") and unit variations ("</a:t>
            </a:r>
            <a:r>
              <a:rPr lang="en-US" dirty="0" err="1"/>
              <a:t>wks</a:t>
            </a:r>
            <a:r>
              <a:rPr lang="en-US" dirty="0"/>
              <a:t>", "weeks", "</a:t>
            </a:r>
            <a:r>
              <a:rPr lang="en-US" dirty="0" err="1"/>
              <a:t>mo</a:t>
            </a:r>
            <a:r>
              <a:rPr lang="en-US" dirty="0"/>
              <a:t>").</a:t>
            </a:r>
          </a:p>
          <a:p>
            <a:r>
              <a:rPr lang="en-US" b="1" dirty="0"/>
              <a:t>Absolute vs. Relative:</a:t>
            </a:r>
            <a:r>
              <a:rPr lang="en-US" dirty="0"/>
              <a:t> While the output is normalized dates, the input text varies between relative durations ("in 2 weeks") and fuzzy approximations ("in about a week“)</a:t>
            </a:r>
          </a:p>
          <a:p>
            <a:r>
              <a:rPr lang="en-US" b="1" dirty="0"/>
              <a:t>Phrasing Templates:</a:t>
            </a:r>
            <a:r>
              <a:rPr lang="en-US" dirty="0"/>
              <a:t> We utilize 10+ weighted templates to vary the lead-in phrase:</a:t>
            </a:r>
          </a:p>
          <a:p>
            <a:pPr lvl="1"/>
            <a:r>
              <a:rPr lang="en-US" i="1" dirty="0"/>
              <a:t>Standard:</a:t>
            </a:r>
            <a:r>
              <a:rPr lang="en-US" dirty="0"/>
              <a:t> "Return in 2 weeks"</a:t>
            </a:r>
          </a:p>
          <a:p>
            <a:pPr lvl="1"/>
            <a:r>
              <a:rPr lang="en-US" i="1" dirty="0"/>
              <a:t>Passive:</a:t>
            </a:r>
            <a:r>
              <a:rPr lang="en-US" dirty="0"/>
              <a:t> "Follow up in 2 weeks"</a:t>
            </a:r>
          </a:p>
          <a:p>
            <a:pPr lvl="1"/>
            <a:r>
              <a:rPr lang="en-US" i="1" dirty="0"/>
              <a:t>Noun-Phrase:</a:t>
            </a:r>
            <a:r>
              <a:rPr lang="en-US" dirty="0"/>
              <a:t> "2-week follow-up"</a:t>
            </a:r>
          </a:p>
          <a:p>
            <a:pPr lvl="1"/>
            <a:r>
              <a:rPr lang="en-US" i="1" dirty="0"/>
              <a:t>Shorthand:</a:t>
            </a:r>
            <a:r>
              <a:rPr lang="en-US" dirty="0"/>
              <a:t> "2wk f/u", "in ~2wks"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995361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07D4FBC-02C4-3931-1127-9B02ACF95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4949"/>
            <a:ext cx="8073575" cy="14115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CD7FDCA-ACDE-76EC-CE7F-01236ACAA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48" y="3429000"/>
            <a:ext cx="8974921" cy="33435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2A8081-B539-CF2F-0811-73C3A27388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0483" y="0"/>
            <a:ext cx="5731517" cy="39454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F5D431-FE9E-DB69-6B2E-A591687A4E80}"/>
              </a:ext>
            </a:extLst>
          </p:cNvPr>
          <p:cNvSpPr txBox="1"/>
          <p:nvPr/>
        </p:nvSpPr>
        <p:spPr>
          <a:xfrm>
            <a:off x="244164" y="227809"/>
            <a:ext cx="60979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Temporal Expression Diversity</a:t>
            </a:r>
            <a:endParaRPr lang="en-IL" sz="2000" b="1" dirty="0"/>
          </a:p>
        </p:txBody>
      </p:sp>
    </p:spTree>
    <p:extLst>
      <p:ext uri="{BB962C8B-B14F-4D97-AF65-F5344CB8AC3E}">
        <p14:creationId xmlns:p14="http://schemas.microsoft.com/office/powerpoint/2010/main" val="2239095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FDA6B-C8D1-C4E2-73DD-593E145F8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1" y="-80645"/>
            <a:ext cx="10515600" cy="1325563"/>
          </a:xfrm>
        </p:spPr>
        <p:txBody>
          <a:bodyPr/>
          <a:lstStyle/>
          <a:p>
            <a:r>
              <a:rPr lang="en-US" dirty="0"/>
              <a:t>Structural &amp; Layout Diversity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1124B-CB49-1DF7-F5F3-84864D1F8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244918"/>
            <a:ext cx="10896600" cy="532737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To prevent the model from learning positional heuristics (e.g., "the date is always at the end of the line"), we strictly controlled the structural layout via PLAN_VARIANTS.</a:t>
            </a:r>
          </a:p>
          <a:p>
            <a:r>
              <a:rPr lang="en-US" b="1" dirty="0"/>
              <a:t>Format A/B (Inline):</a:t>
            </a:r>
            <a:r>
              <a:rPr lang="en-US" dirty="0"/>
              <a:t> ACTION - TIME vs TIME: ACTION (Testing attention direction).</a:t>
            </a:r>
          </a:p>
          <a:p>
            <a:r>
              <a:rPr lang="en-US" b="1" dirty="0"/>
              <a:t>Format C (Narrative):</a:t>
            </a:r>
            <a:r>
              <a:rPr lang="en-US" dirty="0"/>
              <a:t> The action and time are embedded in a full sentence. ("Plan: We will schedule an MRI in 2 weeks time.")</a:t>
            </a:r>
          </a:p>
          <a:p>
            <a:r>
              <a:rPr lang="en-US" b="1" dirty="0"/>
              <a:t>Format D (Parenthetical):</a:t>
            </a:r>
            <a:r>
              <a:rPr lang="en-US" dirty="0"/>
              <a:t> ACTION (TIME) — A common shorthand pattern.</a:t>
            </a:r>
          </a:p>
          <a:p>
            <a:r>
              <a:rPr lang="en-US" b="1" dirty="0"/>
              <a:t>Format E (Grouped):</a:t>
            </a:r>
            <a:r>
              <a:rPr lang="en-US" dirty="0"/>
              <a:t> Diagnostics: ACTION (TIME); ACTION (TIME) — Testing the ability to parse list delimiters.</a:t>
            </a:r>
          </a:p>
          <a:p>
            <a:r>
              <a:rPr lang="en-US" b="1" dirty="0"/>
              <a:t>Format F (Split Line):</a:t>
            </a:r>
            <a:r>
              <a:rPr lang="en-US" dirty="0"/>
              <a:t> The action and time are separated by newlines, forcing the model to aggregate information across line breaks.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64673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D7CF3-749A-5BB0-E8F4-E62A375F3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84B44-9BB5-664A-7C6E-0B10F147C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89453"/>
            <a:ext cx="10515600" cy="1034705"/>
          </a:xfrm>
        </p:spPr>
        <p:txBody>
          <a:bodyPr>
            <a:normAutofit/>
          </a:bodyPr>
          <a:lstStyle/>
          <a:p>
            <a:r>
              <a:rPr lang="en-US" sz="4000" dirty="0"/>
              <a:t>Doctor Visit Note Example</a:t>
            </a:r>
            <a:endParaRPr lang="en-IL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E2ABC-FBDE-D141-9F8F-2B574D161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322" y="646042"/>
            <a:ext cx="11985164" cy="6495538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dirty="0"/>
              <a:t>Date of Visit: 2024-03-26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Patient is a pleasant 45-year-old male presenting with weakness on the right side and difficulty speaking, which began approximately </a:t>
            </a:r>
            <a:r>
              <a:rPr lang="en-US" b="1" dirty="0"/>
              <a:t>2 weeks ago</a:t>
            </a:r>
            <a:r>
              <a:rPr lang="en-US" dirty="0"/>
              <a:t>. He reports that these symptoms intensified over the </a:t>
            </a:r>
            <a:r>
              <a:rPr lang="en-US" b="1" dirty="0"/>
              <a:t>past few days</a:t>
            </a:r>
            <a:r>
              <a:rPr lang="en-US" dirty="0"/>
              <a:t>. Neurological examination reveals right-sided hemiparesis and expressive aphasia. His past medical history is significant for hypertension, which has been well controlled. A </a:t>
            </a:r>
            <a:r>
              <a:rPr lang="en-US" b="1" dirty="0"/>
              <a:t>prior CT scan</a:t>
            </a:r>
            <a:r>
              <a:rPr lang="en-US" dirty="0"/>
              <a:t>, </a:t>
            </a:r>
            <a:r>
              <a:rPr lang="en-US" b="1" dirty="0"/>
              <a:t>performed</a:t>
            </a:r>
            <a:r>
              <a:rPr lang="en-US" dirty="0"/>
              <a:t> during his last visit, </a:t>
            </a:r>
            <a:r>
              <a:rPr lang="en-US" b="1" dirty="0"/>
              <a:t>was negative </a:t>
            </a:r>
            <a:r>
              <a:rPr lang="en-US" dirty="0"/>
              <a:t>for acute changes. </a:t>
            </a:r>
            <a:br>
              <a:rPr lang="en-US" dirty="0"/>
            </a:br>
            <a:r>
              <a:rPr lang="en-US" dirty="0"/>
              <a:t>After discussing his symptoms, I believe he has experienced an ischemic stroke. I emphasized the importance of immediate management to prevent further complications, especially since he has been feeling progressively worse and may need a more comprehensive evaluation.</a:t>
            </a:r>
            <a:br>
              <a:rPr lang="en-US" dirty="0"/>
            </a:br>
            <a:r>
              <a:rPr lang="en-US" dirty="0"/>
              <a:t>INSTRUCTIONS:</a:t>
            </a:r>
            <a:br>
              <a:rPr lang="en-US" dirty="0"/>
            </a:br>
            <a:r>
              <a:rPr lang="en-US" dirty="0"/>
              <a:t>I </a:t>
            </a:r>
            <a:r>
              <a:rPr lang="en-US" b="1" dirty="0"/>
              <a:t>recommend</a:t>
            </a:r>
            <a:r>
              <a:rPr lang="en-US" dirty="0"/>
              <a:t> an </a:t>
            </a:r>
            <a:r>
              <a:rPr lang="en-US" b="1" dirty="0"/>
              <a:t>MRI Brain</a:t>
            </a:r>
            <a:r>
              <a:rPr lang="en-US" dirty="0"/>
              <a:t>.  This will be </a:t>
            </a:r>
            <a:r>
              <a:rPr lang="en-US" b="1" dirty="0"/>
              <a:t>scheduled</a:t>
            </a:r>
            <a:r>
              <a:rPr lang="en-US" dirty="0"/>
              <a:t> </a:t>
            </a:r>
            <a:r>
              <a:rPr lang="en-US" b="1" dirty="0"/>
              <a:t>in 12 days</a:t>
            </a:r>
            <a:r>
              <a:rPr lang="en-US" dirty="0"/>
              <a:t>. Additionally, we should conduct a </a:t>
            </a:r>
            <a:r>
              <a:rPr lang="en-US" b="1" dirty="0"/>
              <a:t>Sleep Study </a:t>
            </a:r>
            <a:r>
              <a:rPr lang="en-US" dirty="0"/>
              <a:t>to assess any potential underlying sleep disorders.  This </a:t>
            </a:r>
            <a:r>
              <a:rPr lang="en-US" b="1" dirty="0"/>
              <a:t>will</a:t>
            </a:r>
            <a:r>
              <a:rPr lang="en-US" dirty="0"/>
              <a:t> take place </a:t>
            </a:r>
            <a:r>
              <a:rPr lang="en-US" b="1" dirty="0"/>
              <a:t>over the next three days</a:t>
            </a:r>
            <a:r>
              <a:rPr lang="en-US" dirty="0"/>
              <a:t>. I advised the patient to monitor his symptoms closely and to seek emergency care if not improved </a:t>
            </a:r>
            <a:r>
              <a:rPr lang="en-US" b="1" dirty="0"/>
              <a:t>in 48 hours </a:t>
            </a:r>
            <a:r>
              <a:rPr lang="en-US" dirty="0"/>
              <a:t>or if he experiences any worsening of his condition. We will follow up on the results of these evaluations at his next appointment.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079614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853A8-4D3E-0CCB-01C5-6CC08FB06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804B870-9632-2895-193D-2FE42DCC4DF4}"/>
              </a:ext>
            </a:extLst>
          </p:cNvPr>
          <p:cNvSpPr/>
          <p:nvPr/>
        </p:nvSpPr>
        <p:spPr>
          <a:xfrm>
            <a:off x="-15088" y="-13896"/>
            <a:ext cx="12191695" cy="566928"/>
          </a:xfrm>
          <a:prstGeom prst="rect">
            <a:avLst/>
          </a:prstGeom>
          <a:solidFill>
            <a:srgbClr val="139BD5"/>
          </a:solidFill>
          <a:ln w="12700">
            <a:solidFill>
              <a:srgbClr val="139BD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12CBA39-6A6B-F46C-7735-E26D2DABE95C}"/>
              </a:ext>
            </a:extLst>
          </p:cNvPr>
          <p:cNvSpPr/>
          <p:nvPr/>
        </p:nvSpPr>
        <p:spPr>
          <a:xfrm>
            <a:off x="548640" y="1097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</a:t>
            </a:r>
            <a:endParaRPr lang="en-US" sz="2400" dirty="0"/>
          </a:p>
        </p:txBody>
      </p:sp>
      <p:sp>
        <p:nvSpPr>
          <p:cNvPr id="33" name="AutoShape 4" descr="התמונה שנבחרה מוצגת ב-Lightbox.">
            <a:extLst>
              <a:ext uri="{FF2B5EF4-FFF2-40B4-BE49-F238E27FC236}">
                <a16:creationId xmlns:a16="http://schemas.microsoft.com/office/drawing/2014/main" id="{06B968F4-D021-20D2-1BF5-D782ADB951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366FE456-B43B-B8B4-ED61-322414A83C2F}"/>
              </a:ext>
            </a:extLst>
          </p:cNvPr>
          <p:cNvSpPr/>
          <p:nvPr/>
        </p:nvSpPr>
        <p:spPr>
          <a:xfrm>
            <a:off x="325422" y="807395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Prompt Affect</a:t>
            </a:r>
            <a:endParaRPr lang="en-US" sz="24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A6A11592-40DB-CD3F-1477-941E71F52844}"/>
              </a:ext>
            </a:extLst>
          </p:cNvPr>
          <p:cNvSpPr/>
          <p:nvPr/>
        </p:nvSpPr>
        <p:spPr>
          <a:xfrm>
            <a:off x="6605395" y="84189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Length Per Specialty</a:t>
            </a:r>
            <a:endParaRPr lang="en-US" sz="2400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D0C3CA8B-3716-7ADC-0554-58519D99739E}"/>
              </a:ext>
            </a:extLst>
          </p:cNvPr>
          <p:cNvSpPr/>
          <p:nvPr/>
        </p:nvSpPr>
        <p:spPr>
          <a:xfrm>
            <a:off x="122222" y="1270940"/>
            <a:ext cx="56692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L" dirty="0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6D274B8C-E835-E5CA-8437-2BD3B5BB5F23}"/>
              </a:ext>
            </a:extLst>
          </p:cNvPr>
          <p:cNvSpPr/>
          <p:nvPr/>
        </p:nvSpPr>
        <p:spPr>
          <a:xfrm>
            <a:off x="6564906" y="1270940"/>
            <a:ext cx="5208104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L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70BF0B6-5781-2110-3E63-A099B85CA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3109" y="1379951"/>
            <a:ext cx="6238869" cy="4411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9E43EB1-D7EA-4C4E-CA2B-340D73128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22" y="1845343"/>
            <a:ext cx="5063205" cy="2063381"/>
          </a:xfrm>
          <a:prstGeom prst="rect">
            <a:avLst/>
          </a:prstGeom>
        </p:spPr>
      </p:pic>
      <p:sp>
        <p:nvSpPr>
          <p:cNvPr id="15" name="AutoShape 2" descr="תצוגה מקדימה של התמונה שהועלתה">
            <a:extLst>
              <a:ext uri="{FF2B5EF4-FFF2-40B4-BE49-F238E27FC236}">
                <a16:creationId xmlns:a16="http://schemas.microsoft.com/office/drawing/2014/main" id="{EA4368EE-5736-67AD-8F18-B5E5A476EF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31778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58146-257A-82DA-2B6B-4DBB5EED7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Distribution</a:t>
            </a:r>
            <a:br>
              <a:rPr lang="en-US" dirty="0"/>
            </a:br>
            <a:endParaRPr lang="en-IL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9AC2B0F3-A334-ED0D-D24D-068D0DD0D5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22" y="1412112"/>
            <a:ext cx="10626361" cy="5080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8720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9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4E"/>
          </a:solidFill>
          <a:ln w="12700">
            <a:solidFill>
              <a:srgbClr val="0B2E4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777240"/>
            <a:ext cx="106372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Approaches compared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106372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pipeline vs generative baselines.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0701" y="2133164"/>
            <a:ext cx="1440774" cy="685800"/>
          </a:xfrm>
          <a:prstGeom prst="roundRect">
            <a:avLst/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-22860" y="2224604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Synthetic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44357" y="2160439"/>
            <a:ext cx="1756996" cy="685800"/>
          </a:xfrm>
          <a:prstGeom prst="roundRect">
            <a:avLst/>
          </a:prstGeom>
          <a:solidFill>
            <a:srgbClr val="1AA6A6"/>
          </a:solidFill>
          <a:ln w="12700">
            <a:solidFill>
              <a:srgbClr val="1AA6A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4175904" y="2197309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NER BIO TAG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and times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38561" y="2125980"/>
            <a:ext cx="1666889" cy="685800"/>
          </a:xfrm>
          <a:prstGeom prst="roundRect">
            <a:avLst/>
          </a:prstGeom>
          <a:solidFill>
            <a:srgbClr val="1AA6A6"/>
          </a:solidFill>
          <a:ln w="12700">
            <a:solidFill>
              <a:srgbClr val="1AA6A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6477732" y="22631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Linker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(action↔time)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51255" y="2160439"/>
            <a:ext cx="1641964" cy="685800"/>
          </a:xfrm>
          <a:prstGeom prst="roundRect">
            <a:avLst/>
          </a:prstGeom>
          <a:solidFill>
            <a:srgbClr val="1AA6A6"/>
          </a:solidFill>
          <a:ln w="12700">
            <a:solidFill>
              <a:srgbClr val="1AA6A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8485896" y="224028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Date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466542" y="2125980"/>
            <a:ext cx="1608109" cy="685800"/>
          </a:xfrm>
          <a:prstGeom prst="roundRect">
            <a:avLst/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10439024" y="222835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 JSON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651760" y="2491740"/>
            <a:ext cx="1371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6108657" y="2503339"/>
            <a:ext cx="200703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L" dirty="0"/>
          </a:p>
        </p:txBody>
      </p:sp>
      <p:sp>
        <p:nvSpPr>
          <p:cNvPr id="19" name="Shape 17"/>
          <p:cNvSpPr/>
          <p:nvPr/>
        </p:nvSpPr>
        <p:spPr>
          <a:xfrm>
            <a:off x="8161369" y="2472087"/>
            <a:ext cx="220604" cy="19429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10184564" y="2491740"/>
            <a:ext cx="1371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640080" y="3063240"/>
            <a:ext cx="57150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1097280" y="338328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B — Fine-tuned LLaMA (generative)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88720" y="3794760"/>
            <a:ext cx="49834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Prompted to output JSON directly</a:t>
            </a:r>
            <a:endParaRPr lang="en-US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synthetic dataset with closed action set in prompt</a:t>
            </a:r>
            <a:endParaRPr lang="en-US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risk: date arithmetic &amp; formatting errors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629400" y="3154680"/>
            <a:ext cx="478231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6949440" y="3383280"/>
            <a:ext cx="4142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4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 — Zero-shot ChatGPT (generative)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40880" y="3794760"/>
            <a:ext cx="4050792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fine-tuning; prompt asks for strict JSON only</a:t>
            </a:r>
            <a:endParaRPr lang="en-US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at finding actions/time phrases</a:t>
            </a:r>
            <a:endParaRPr lang="en-US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makes relative→absolute date mistakes</a:t>
            </a:r>
            <a:endParaRPr lang="en-US" dirty="0"/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97826281-1D1B-E931-95BD-25272AB8BF6A}"/>
              </a:ext>
            </a:extLst>
          </p:cNvPr>
          <p:cNvSpPr/>
          <p:nvPr/>
        </p:nvSpPr>
        <p:spPr>
          <a:xfrm>
            <a:off x="1960267" y="2171700"/>
            <a:ext cx="1756996" cy="685800"/>
          </a:xfrm>
          <a:prstGeom prst="roundRect">
            <a:avLst/>
          </a:prstGeom>
          <a:solidFill>
            <a:srgbClr val="1AA6A6"/>
          </a:solidFill>
          <a:ln w="12700">
            <a:solidFill>
              <a:srgbClr val="1AA6A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4F896DC7-1EED-F1CF-BBA3-B98D3DC062DB}"/>
              </a:ext>
            </a:extLst>
          </p:cNvPr>
          <p:cNvSpPr/>
          <p:nvPr/>
        </p:nvSpPr>
        <p:spPr>
          <a:xfrm flipV="1">
            <a:off x="3811566" y="2472311"/>
            <a:ext cx="230779" cy="7507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A3D96A1C-EE4B-5DBD-B7AE-7F644A69C1FA}"/>
              </a:ext>
            </a:extLst>
          </p:cNvPr>
          <p:cNvSpPr/>
          <p:nvPr/>
        </p:nvSpPr>
        <p:spPr>
          <a:xfrm flipV="1">
            <a:off x="1648612" y="2464580"/>
            <a:ext cx="230779" cy="7507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4A31ED3F-AAA0-00F7-064E-AEE28ECEC91E}"/>
              </a:ext>
            </a:extLst>
          </p:cNvPr>
          <p:cNvSpPr/>
          <p:nvPr/>
        </p:nvSpPr>
        <p:spPr>
          <a:xfrm>
            <a:off x="1881700" y="228296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BioBERT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3079CFD1-9769-7C61-25E6-A11F64EA8A9A}"/>
              </a:ext>
            </a:extLst>
          </p:cNvPr>
          <p:cNvSpPr/>
          <p:nvPr/>
        </p:nvSpPr>
        <p:spPr>
          <a:xfrm>
            <a:off x="12809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B57929-E180-5C14-E425-E57F62B83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60" y="628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2"/>
                </a:solidFill>
              </a:rPr>
              <a:t>Head A: Named Entity Recognition (NER)</a:t>
            </a:r>
            <a:endParaRPr lang="en-IL" sz="4000" b="1" dirty="0">
              <a:solidFill>
                <a:schemeClr val="tx2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3984B6B-1C06-F991-FE1D-85CA9332B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713" y="1331843"/>
            <a:ext cx="10817087" cy="4845120"/>
          </a:xfrm>
        </p:spPr>
        <p:txBody>
          <a:bodyPr>
            <a:normAutofit/>
          </a:bodyPr>
          <a:lstStyle/>
          <a:p>
            <a:r>
              <a:rPr lang="en-US" dirty="0"/>
              <a:t>This component is responsible for identifying the </a:t>
            </a:r>
            <a:r>
              <a:rPr lang="en-US" i="1" dirty="0"/>
              <a:t>actions and dates</a:t>
            </a:r>
            <a:endParaRPr lang="en-US" dirty="0"/>
          </a:p>
          <a:p>
            <a:r>
              <a:rPr lang="en-US" b="1" dirty="0"/>
              <a:t>Scheme:</a:t>
            </a:r>
            <a:r>
              <a:rPr lang="en-US" dirty="0"/>
              <a:t> We employ a </a:t>
            </a:r>
            <a:r>
              <a:rPr lang="en-US" b="1" dirty="0"/>
              <a:t>BIO Tagging Scheme</a:t>
            </a:r>
            <a:r>
              <a:rPr lang="en-US" dirty="0"/>
              <a:t> with 5 classes: O (Outside), B-ACT (Begin Action), I-ACT (Inside Action), B-TIME (Begin Time), and I-TIME (Inside Time).</a:t>
            </a:r>
          </a:p>
          <a:p>
            <a:r>
              <a:rPr lang="en-US" b="1" dirty="0"/>
              <a:t>Class Imbalance Handling:</a:t>
            </a:r>
            <a:r>
              <a:rPr lang="en-US" dirty="0"/>
              <a:t> To prevent the model from bias toward the majority class (O), we apply weighted Cross-Entropy Loss, assigning a </a:t>
            </a:r>
            <a:r>
              <a:rPr lang="en-US" b="1" dirty="0"/>
              <a:t>10x penalty</a:t>
            </a:r>
            <a:r>
              <a:rPr lang="en-US" dirty="0"/>
              <a:t> for missing valid entity tokens compared to background tokens.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589563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4BA5B-6046-AF36-5A7E-15C54A2BE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75C20-7679-2475-AB62-E4E31952F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573" y="23971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Head A: BIO TAGGING</a:t>
            </a:r>
            <a:br>
              <a:rPr lang="en-US" sz="4000" dirty="0"/>
            </a:br>
            <a:endParaRPr lang="en-IL" sz="40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E15C6E5-B79B-9B4F-15EE-825C1A8840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6165" y="1161664"/>
            <a:ext cx="10919670" cy="27862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C80CBA-0829-7C24-FCA8-40A817947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65" y="3792449"/>
            <a:ext cx="6052870" cy="282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8663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5077F-0731-F4B1-A24F-CA19BDDCD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3B9B4-BFC0-00F9-18AA-68B221A34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39" y="0"/>
            <a:ext cx="10515600" cy="874643"/>
          </a:xfrm>
        </p:spPr>
        <p:txBody>
          <a:bodyPr>
            <a:normAutofit/>
          </a:bodyPr>
          <a:lstStyle/>
          <a:p>
            <a:r>
              <a:rPr lang="en-US" sz="3600" dirty="0"/>
              <a:t>Head B: Biaffine Linker </a:t>
            </a:r>
            <a:endParaRPr lang="en-IL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BB014B-B7CC-9FC7-15EF-EA73A1D03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503" y="2276538"/>
            <a:ext cx="8156713" cy="45814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65694D-64AF-5DE0-7E34-16799011EE87}"/>
              </a:ext>
            </a:extLst>
          </p:cNvPr>
          <p:cNvSpPr txBox="1"/>
          <p:nvPr/>
        </p:nvSpPr>
        <p:spPr>
          <a:xfrm>
            <a:off x="543340" y="206164"/>
            <a:ext cx="99689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dirty="0"/>
            </a:br>
            <a:endParaRPr lang="en-US" dirty="0"/>
          </a:p>
          <a:p>
            <a:r>
              <a:rPr lang="en-US" dirty="0">
                <a:effectLst/>
              </a:rPr>
              <a:t>ASSESSMENT &amp; PLAN: </a:t>
            </a:r>
            <a:endParaRPr lang="en-US" dirty="0"/>
          </a:p>
          <a:p>
            <a:r>
              <a:rPr lang="en-US" dirty="0">
                <a:effectLst/>
              </a:rPr>
              <a:t>• Carpal tunnel syndrome likely contributing to patient's symptoms. </a:t>
            </a:r>
          </a:p>
          <a:p>
            <a:r>
              <a:rPr lang="en-US" dirty="0">
                <a:effectLst/>
              </a:rPr>
              <a:t>• Neurology Consult (in 14 days) to further evaluate and discuss potential interventions. </a:t>
            </a:r>
          </a:p>
          <a:p>
            <a:r>
              <a:rPr lang="en-US" dirty="0">
                <a:effectLst/>
              </a:rPr>
              <a:t>• EMG (within 10 months) to assess the severity of median nerve involvement and confirm diagnosis. 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5150250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444BA5CF-2E28-FEDE-4C8D-B86DA5DD067A}"/>
              </a:ext>
            </a:extLst>
          </p:cNvPr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748CD1-A977-B77C-DA10-E672A88B4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329" y="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Training Methodology</a:t>
            </a:r>
            <a:endParaRPr lang="en-IL" b="1" dirty="0">
              <a:solidFill>
                <a:schemeClr val="tx2"/>
              </a:solidFill>
            </a:endParaRPr>
          </a:p>
        </p:txBody>
      </p:sp>
      <p:sp>
        <p:nvSpPr>
          <p:cNvPr id="4" name="Shape 19">
            <a:extLst>
              <a:ext uri="{FF2B5EF4-FFF2-40B4-BE49-F238E27FC236}">
                <a16:creationId xmlns:a16="http://schemas.microsoft.com/office/drawing/2014/main" id="{D3E81B7E-2E60-AC87-835D-54457EC8E6CE}"/>
              </a:ext>
            </a:extLst>
          </p:cNvPr>
          <p:cNvSpPr/>
          <p:nvPr/>
        </p:nvSpPr>
        <p:spPr>
          <a:xfrm>
            <a:off x="154329" y="1122768"/>
            <a:ext cx="11516810" cy="51566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E465026-D7FA-F830-7B92-D4CBF787AD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0861" y="1325563"/>
            <a:ext cx="10947400" cy="4409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model is trained using a </a:t>
            </a:r>
            <a:r>
              <a:rPr kumimoji="0" lang="en-IL" altLang="en-IL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Joint Loss</a:t>
            </a:r>
            <a:r>
              <a:rPr kumimoji="0" lang="en-IL" altLang="en-I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function that optimizes both tasks simultaneously:</a:t>
            </a:r>
            <a:endParaRPr kumimoji="0" lang="en-IL" altLang="en-I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L_{total} = L_{NER} + </a:t>
            </a:r>
            <a:r>
              <a:rPr kumimoji="0" lang="el-GR" altLang="en-I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α</a:t>
            </a:r>
            <a:r>
              <a:rPr kumimoji="0" lang="en-IL" altLang="en-I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I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* </a:t>
            </a:r>
            <a:r>
              <a:rPr kumimoji="0" lang="en-IL" altLang="en-I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L_{Linking}</a:t>
            </a:r>
            <a:endParaRPr kumimoji="0" lang="en-IL" altLang="en-I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IL" altLang="en-IL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(Where </a:t>
            </a:r>
            <a:r>
              <a:rPr kumimoji="0" lang="el-GR" altLang="en-I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α </a:t>
            </a:r>
            <a:r>
              <a:rPr kumimoji="0" lang="en-IL" altLang="en-IL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=1.0 balances the importance of both tasks).</a:t>
            </a:r>
            <a:endParaRPr kumimoji="0" lang="en-IL" altLang="en-I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IL" altLang="en-IL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Early Stopping:</a:t>
            </a:r>
            <a:r>
              <a:rPr kumimoji="0" lang="en-IL" altLang="en-I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prevent overfitting to the synthetic data patterns, we monitor validation loss with a patience of 4 epochs. (In our experiments, the model converged to optimal performance at </a:t>
            </a:r>
            <a:r>
              <a:rPr kumimoji="0" lang="en-IL" altLang="en-IL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Epoch 7</a:t>
            </a:r>
            <a:r>
              <a:rPr kumimoji="0" lang="en-IL" altLang="en-I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L" altLang="en-I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5048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E36F8B3B-A918-8BD7-B682-A320BE49243C}"/>
              </a:ext>
            </a:extLst>
          </p:cNvPr>
          <p:cNvSpPr/>
          <p:nvPr/>
        </p:nvSpPr>
        <p:spPr>
          <a:xfrm>
            <a:off x="12809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CABEADDE-470E-68EF-3063-15061A92C796}"/>
              </a:ext>
            </a:extLst>
          </p:cNvPr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EB25F9-7D37-31A4-D4DB-A5FDF80C2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62" y="267628"/>
            <a:ext cx="11140068" cy="289932"/>
          </a:xfrm>
        </p:spPr>
        <p:txBody>
          <a:bodyPr>
            <a:normAutofit fontScale="90000"/>
          </a:bodyPr>
          <a:lstStyle/>
          <a:p>
            <a:r>
              <a:rPr lang="en-US" sz="3200" b="1" dirty="0" err="1">
                <a:solidFill>
                  <a:schemeClr val="tx2"/>
                </a:solidFill>
              </a:rPr>
              <a:t>LLaMA</a:t>
            </a:r>
            <a:r>
              <a:rPr lang="en-US" sz="3200" b="1" dirty="0">
                <a:solidFill>
                  <a:schemeClr val="tx2"/>
                </a:solidFill>
              </a:rPr>
              <a:t> baseline-direct JSON extraction</a:t>
            </a:r>
            <a:br>
              <a:rPr lang="en-US" sz="3200" b="1" dirty="0">
                <a:solidFill>
                  <a:schemeClr val="tx2"/>
                </a:solidFill>
              </a:rPr>
            </a:br>
            <a:endParaRPr lang="en-IL" sz="3200"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DB3CE-6979-A885-632E-1F3C2B189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57560"/>
            <a:ext cx="12192000" cy="630043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dirty="0"/>
              <a:t>[</a:t>
            </a:r>
            <a:br>
              <a:rPr lang="en-US" sz="1400" dirty="0"/>
            </a:br>
            <a:r>
              <a:rPr lang="en-US" sz="1400" dirty="0"/>
              <a:t>  {"action": "MRI Brain", "</a:t>
            </a:r>
            <a:r>
              <a:rPr lang="en-US" sz="1400" dirty="0" err="1"/>
              <a:t>period_date</a:t>
            </a:r>
            <a:r>
              <a:rPr lang="en-US" sz="1400" dirty="0"/>
              <a:t>": "2025-02-15"}</a:t>
            </a:r>
            <a:br>
              <a:rPr lang="en-US" sz="1400" dirty="0"/>
            </a:br>
            <a:r>
              <a:rPr lang="en-US" sz="1400" dirty="0"/>
              <a:t>]</a:t>
            </a:r>
          </a:p>
          <a:p>
            <a:pPr marL="0" indent="0">
              <a:buNone/>
            </a:pPr>
            <a:r>
              <a:rPr lang="en-US" sz="1600" dirty="0" err="1"/>
              <a:t>system_prompt</a:t>
            </a:r>
            <a:r>
              <a:rPr lang="en-US" sz="1600" dirty="0"/>
              <a:t> = """You are an expert clinical information extraction system.</a:t>
            </a:r>
          </a:p>
          <a:p>
            <a:pPr marL="0" indent="0">
              <a:buNone/>
            </a:pPr>
            <a:r>
              <a:rPr lang="en-US" sz="1600" dirty="0"/>
              <a:t>Task:</a:t>
            </a:r>
          </a:p>
          <a:p>
            <a:pPr marL="0" indent="0">
              <a:buNone/>
            </a:pPr>
            <a:r>
              <a:rPr lang="en-US" sz="1600" dirty="0"/>
              <a:t>Extract ONLY scheduled follow-up items from the clinical note (tests/labs/imaging/referrals/therapy explicitly planned for the future).</a:t>
            </a:r>
          </a:p>
          <a:p>
            <a:pPr marL="0" indent="0">
              <a:buNone/>
            </a:pPr>
            <a:r>
              <a:rPr lang="en-US" sz="1600" dirty="0"/>
              <a:t>Ignore history/past tests/symptom duration.</a:t>
            </a: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r>
              <a:rPr lang="en-US" sz="1600" dirty="0"/>
              <a:t>Return ONLY valid JSON.</a:t>
            </a:r>
          </a:p>
          <a:p>
            <a:pPr marL="0" indent="0">
              <a:buNone/>
            </a:pPr>
            <a:r>
              <a:rPr lang="en-US" sz="1600" dirty="0"/>
              <a:t>""“</a:t>
            </a:r>
            <a:r>
              <a:rPr lang="en-US" sz="1600" dirty="0" err="1"/>
              <a:t>user_prompt</a:t>
            </a:r>
            <a:r>
              <a:rPr lang="en-US" sz="1600" dirty="0"/>
              <a:t> = </a:t>
            </a:r>
            <a:r>
              <a:rPr lang="en-US" sz="1600" dirty="0" err="1"/>
              <a:t>f"""Rules</a:t>
            </a:r>
            <a:r>
              <a:rPr lang="en-US" sz="1600" dirty="0"/>
              <a:t>:</a:t>
            </a:r>
          </a:p>
          <a:p>
            <a:pPr marL="0" indent="0">
              <a:buNone/>
            </a:pPr>
            <a:r>
              <a:rPr lang="en-US" sz="1600" dirty="0"/>
              <a:t>- Output must be a JSON array (possibly empty).</a:t>
            </a:r>
          </a:p>
          <a:p>
            <a:pPr marL="0" indent="0">
              <a:buNone/>
            </a:pPr>
            <a:r>
              <a:rPr lang="en-US" sz="1600" dirty="0"/>
              <a:t>- Each item must be a scheduled follow-up item from the note (not history).</a:t>
            </a:r>
          </a:p>
          <a:p>
            <a:pPr marL="0" indent="0">
              <a:buNone/>
            </a:pPr>
            <a:r>
              <a:rPr lang="en-US" sz="1600" dirty="0"/>
              <a:t>- action must be EXACTLY one of the allowed actions below (no new actions).</a:t>
            </a:r>
          </a:p>
          <a:p>
            <a:pPr marL="0" indent="0">
              <a:buNone/>
            </a:pPr>
            <a:r>
              <a:rPr lang="en-US" sz="1600" dirty="0"/>
              <a:t>- </a:t>
            </a:r>
            <a:r>
              <a:rPr lang="en-US" sz="1600" dirty="0" err="1"/>
              <a:t>period_date</a:t>
            </a:r>
            <a:r>
              <a:rPr lang="en-US" sz="1600" dirty="0"/>
              <a:t> must be computed relative to the visit date line in the note (YYYY-MM-DD).</a:t>
            </a:r>
          </a:p>
          <a:p>
            <a:pPr marL="0" indent="0">
              <a:buNone/>
            </a:pPr>
            <a:r>
              <a:rPr lang="en-US" sz="1600" dirty="0"/>
              <a:t>{"- </a:t>
            </a:r>
            <a:r>
              <a:rPr lang="en-US" sz="1600" dirty="0" err="1"/>
              <a:t>period_text</a:t>
            </a:r>
            <a:r>
              <a:rPr lang="en-US" sz="1600" dirty="0"/>
              <a:t> must be copied verbatim from the note.\n" if LLAMA_TARGET_MODE != "</a:t>
            </a:r>
            <a:r>
              <a:rPr lang="en-US" sz="1600" dirty="0" err="1"/>
              <a:t>date_only</a:t>
            </a:r>
            <a:r>
              <a:rPr lang="en-US" sz="1600" dirty="0"/>
              <a:t>" else ""}</a:t>
            </a:r>
          </a:p>
          <a:p>
            <a:pPr marL="0" indent="0">
              <a:buNone/>
            </a:pPr>
            <a:r>
              <a:rPr lang="en-US" sz="1600" dirty="0"/>
              <a:t>- If no scheduled items: return [].</a:t>
            </a:r>
          </a:p>
          <a:p>
            <a:pPr marL="0" indent="0">
              <a:buNone/>
            </a:pPr>
            <a:r>
              <a:rPr lang="en-US" sz="1600" dirty="0"/>
              <a:t>- Output JSON only (no markdown, no extra text).</a:t>
            </a:r>
          </a:p>
          <a:p>
            <a:pPr marL="0" indent="0">
              <a:buNone/>
            </a:pPr>
            <a:r>
              <a:rPr lang="en-US" sz="1600" dirty="0"/>
              <a:t>Allowed actions:</a:t>
            </a:r>
          </a:p>
          <a:p>
            <a:pPr marL="0" indent="0">
              <a:buNone/>
            </a:pPr>
            <a:r>
              <a:rPr lang="en-US" sz="1600" dirty="0"/>
              <a:t>{</a:t>
            </a:r>
            <a:r>
              <a:rPr lang="en-US" sz="1600" dirty="0" err="1"/>
              <a:t>allowed_actions</a:t>
            </a:r>
            <a:r>
              <a:rPr lang="en-US" sz="1600" dirty="0"/>
              <a:t>}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Clinical note: {note}"""</a:t>
            </a:r>
          </a:p>
        </p:txBody>
      </p:sp>
    </p:spTree>
    <p:extLst>
      <p:ext uri="{BB962C8B-B14F-4D97-AF65-F5344CB8AC3E}">
        <p14:creationId xmlns:p14="http://schemas.microsoft.com/office/powerpoint/2010/main" val="8278935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824D5-A9E7-26F2-5AAC-1B2D23D02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ED18B-DC64-7811-18FC-743AC7E9C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4130"/>
            <a:ext cx="10515600" cy="1325563"/>
          </a:xfrm>
        </p:spPr>
        <p:txBody>
          <a:bodyPr/>
          <a:lstStyle/>
          <a:p>
            <a:r>
              <a:rPr lang="en-US" b="1" dirty="0"/>
              <a:t>Comparing metrics</a:t>
            </a:r>
            <a:endParaRPr lang="en-IL" b="1" dirty="0"/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C8C8D511-EB14-B3E4-20DE-73DD0B401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1" y="1211270"/>
            <a:ext cx="11229975" cy="556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84686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3A0D3-9179-377F-A0C8-4087D1E02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55A86-9359-5C1E-35C6-3BCEF8FAA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520" y="-3925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Model Performance Comparison Table</a:t>
            </a:r>
            <a:endParaRPr lang="en-IL" b="1" dirty="0">
              <a:solidFill>
                <a:schemeClr val="tx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26B257-DD39-391E-D423-755AA33AA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79" y="1195198"/>
            <a:ext cx="7354933" cy="514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7125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71E7C-0110-E3C5-0878-D53877848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192"/>
            <a:ext cx="10515600" cy="1325563"/>
          </a:xfrm>
        </p:spPr>
        <p:txBody>
          <a:bodyPr/>
          <a:lstStyle/>
          <a:p>
            <a:r>
              <a:rPr lang="en-US" dirty="0" err="1"/>
              <a:t>BioBERT</a:t>
            </a:r>
            <a:r>
              <a:rPr lang="en-US" dirty="0"/>
              <a:t> Confusion Matrix</a:t>
            </a:r>
            <a:endParaRPr lang="en-IL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0E9F640-61C9-10FB-381B-FB1914E524E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110" y="1326355"/>
            <a:ext cx="5934820" cy="5320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84922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8703D-768B-B5CD-2005-D2979209C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30" y="365125"/>
            <a:ext cx="10770870" cy="1132205"/>
          </a:xfrm>
        </p:spPr>
        <p:txBody>
          <a:bodyPr>
            <a:normAutofit fontScale="90000"/>
          </a:bodyPr>
          <a:lstStyle/>
          <a:p>
            <a:r>
              <a:rPr lang="en-US" dirty="0"/>
              <a:t>Date Calculation Accuracy (Mean Absolute Error)</a:t>
            </a:r>
            <a:endParaRPr lang="en-IL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9D01D55-D3F6-8FC9-655A-823F45EC5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620" y="1329690"/>
            <a:ext cx="7867650" cy="4857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43582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C0081-A677-8C9F-81A4-1CDDA328C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168" y="18255"/>
            <a:ext cx="10515600" cy="1325563"/>
          </a:xfrm>
        </p:spPr>
        <p:txBody>
          <a:bodyPr>
            <a:noAutofit/>
          </a:bodyPr>
          <a:lstStyle/>
          <a:p>
            <a:r>
              <a:rPr lang="en-US" sz="3600" b="1" dirty="0"/>
              <a:t>Error Distribution by Model Type</a:t>
            </a:r>
            <a:endParaRPr lang="en-IL" sz="3600" b="1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E28022C-B7A8-6646-5E59-83E38DAB87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" y="1277145"/>
            <a:ext cx="9372600" cy="556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84170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7908" y="320040"/>
            <a:ext cx="11354972" cy="59436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254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777240" y="39319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186844"/>
            <a:ext cx="596001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868680" y="13898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we achieve the goal?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1790890"/>
            <a:ext cx="4846320" cy="9353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BioBERT pipeline reliably outputs follow-up actions with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dates (≈0.98 F1)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7908" y="3602736"/>
            <a:ext cx="5960012" cy="2862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599049" y="3886613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90488" y="4315968"/>
            <a:ext cx="5405511" cy="19441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LLMs can extract actions, but direct date generation is brittle.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Extracting period_text as evidence + dateparser improves consistency.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508652" y="1051560"/>
            <a:ext cx="5247248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6812280" y="127965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28692" y="1617980"/>
            <a:ext cx="4297680" cy="15589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Synthetic data is still cleaner than real EHR notes.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508652" y="3703320"/>
            <a:ext cx="5247249" cy="279712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6812280" y="3886613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12280" y="4389946"/>
            <a:ext cx="4297680" cy="1125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Extend the problem beyond 28 actions</a:t>
            </a: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Allow more actions per note</a:t>
            </a:r>
          </a:p>
          <a:p>
            <a:pPr>
              <a:lnSpc>
                <a:spcPct val="115000"/>
              </a:lnSpc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Evaluate pipeline on real-note benchmark</a:t>
            </a:r>
            <a:endParaRPr lang="en-US" dirty="0"/>
          </a:p>
          <a:p>
            <a:pPr marL="0" indent="0">
              <a:lnSpc>
                <a:spcPct val="115000"/>
              </a:lnSpc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</TotalTime>
  <Words>2002</Words>
  <Application>Microsoft Office PowerPoint</Application>
  <PresentationFormat>Widescreen</PresentationFormat>
  <Paragraphs>183</Paragraphs>
  <Slides>28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Google Sans Text</vt:lpstr>
      <vt:lpstr>Office Theme</vt:lpstr>
      <vt:lpstr>PowerPoint Presentation</vt:lpstr>
      <vt:lpstr>PowerPoint Presentation</vt:lpstr>
      <vt:lpstr>PowerPoint Presentation</vt:lpstr>
      <vt:lpstr>Synthetic Dataset Generation </vt:lpstr>
      <vt:lpstr>Clinical Domain Diversity</vt:lpstr>
      <vt:lpstr>PowerPoint Presentation</vt:lpstr>
      <vt:lpstr>PowerPoint Presentation</vt:lpstr>
      <vt:lpstr>Linguistic Diversity (Stylistic Variance)</vt:lpstr>
      <vt:lpstr>PowerPoint Presentation</vt:lpstr>
      <vt:lpstr>PowerPoint Presentation</vt:lpstr>
      <vt:lpstr>Temporal Expression Diversity</vt:lpstr>
      <vt:lpstr>PowerPoint Presentation</vt:lpstr>
      <vt:lpstr>Structural &amp; Layout Diversity</vt:lpstr>
      <vt:lpstr>Doctor Visit Note Example</vt:lpstr>
      <vt:lpstr>PowerPoint Presentation</vt:lpstr>
      <vt:lpstr>Actions Distribution </vt:lpstr>
      <vt:lpstr>PowerPoint Presentation</vt:lpstr>
      <vt:lpstr>Head A: Named Entity Recognition (NER)</vt:lpstr>
      <vt:lpstr>Head A: BIO TAGGING </vt:lpstr>
      <vt:lpstr>Head B: Biaffine Linker </vt:lpstr>
      <vt:lpstr>Training Methodology</vt:lpstr>
      <vt:lpstr>LLaMA baseline-direct JSON extraction </vt:lpstr>
      <vt:lpstr>Comparing metrics</vt:lpstr>
      <vt:lpstr>Model Performance Comparison Table</vt:lpstr>
      <vt:lpstr>BioBERT Confusion Matrix</vt:lpstr>
      <vt:lpstr>Date Calculation Accuracy (Mean Absolute Error)</vt:lpstr>
      <vt:lpstr>Error Distribution by Model Type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Michal Laufer</dc:creator>
  <cp:lastModifiedBy>Michal Laufer</cp:lastModifiedBy>
  <cp:revision>26</cp:revision>
  <dcterms:created xsi:type="dcterms:W3CDTF">2026-01-27T15:55:07Z</dcterms:created>
  <dcterms:modified xsi:type="dcterms:W3CDTF">2026-01-29T08:32:39Z</dcterms:modified>
</cp:coreProperties>
</file>